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417320"/>
            <a:ext cx="10058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 i="0">
                <a:solidFill>
                  <a:srgbClr val="0F6E8C"/>
                </a:solidFill>
                <a:latin typeface="Calibri"/>
              </a:rPr>
              <a:t>DEEP REINFORCEMENT LEARNING FOR STOCHASTIC QUANTUM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0704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3000"/>
              </a:lnSpc>
            </a:pPr>
            <a:r>
              <a:rPr sz="4300" b="1" i="0">
                <a:solidFill>
                  <a:srgbClr val="222222"/>
                </a:solidFill>
                <a:latin typeface="Cambria"/>
              </a:rPr>
              <a:t>Diagnosing a Training-Instability Failure Mode
and Proving 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0520"/>
            <a:ext cx="102412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8000"/>
              </a:lnSpc>
            </a:pPr>
            <a:r>
              <a:rPr sz="1900" b="0" i="0">
                <a:solidFill>
                  <a:srgbClr val="808080"/>
                </a:solidFill>
                <a:latin typeface="Calibri"/>
              </a:rPr>
              <a:t>A deep RL scheduler for quantum repeater networks — and the evaluation discipline behind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57800"/>
            <a:ext cx="7315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 i="0">
                <a:solidFill>
                  <a:srgbClr val="0F6E8C"/>
                </a:solidFill>
                <a:latin typeface="Calibri"/>
              </a:rPr>
              <a:t>Idil Gozel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0515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 i="0">
                <a:solidFill>
                  <a:srgbClr val="0F6E8C"/>
                </a:solidFill>
                <a:latin typeface="Calibri"/>
              </a:rPr>
              <a:t>DEBUGGING THE LEARNER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2000"/>
              </a:lnSpc>
            </a:pPr>
            <a:r>
              <a:rPr sz="3300" b="1" i="0">
                <a:solidFill>
                  <a:srgbClr val="222222"/>
                </a:solidFill>
                <a:latin typeface="Cambria"/>
              </a:rPr>
              <a:t>Training looked healthy — the policy was silently collapsing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80644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808080"/>
                </a:solidFill>
                <a:latin typeface="Calibri"/>
              </a:rPr>
              <a:t>The task: a deep Q-network schedules probabilistic entanglement-generation and swap operations on an n-node chain to deliver an end-to-end link.</a:t>
            </a:r>
          </a:p>
          <a:p>
            <a:pPr>
              <a:lnSpc>
                <a:spcPct val="104000"/>
              </a:lnSpc>
              <a:spcBef>
                <a:spcPts val="800"/>
              </a:spcBef>
              <a:spcAft>
                <a:spcPts val="400"/>
              </a:spcAft>
            </a:pPr>
            <a:r>
              <a:rPr sz="1500" b="1" i="0">
                <a:solidFill>
                  <a:srgbClr val="C7641F"/>
                </a:solidFill>
                <a:latin typeface="Calibri"/>
              </a:rPr>
              <a:t>The symptom.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Training reward trended up, but the greedy (argmax) policy's success rate decayed toward 0% as training continued — ε-soft evaluation masked it.</a:t>
            </a:r>
          </a:p>
          <a:p>
            <a:pPr>
              <a:lnSpc>
                <a:spcPct val="104000"/>
              </a:lnSpc>
              <a:spcBef>
                <a:spcPts val="800"/>
              </a:spcBef>
              <a:spcAft>
                <a:spcPts val="400"/>
              </a:spcAft>
            </a:pPr>
            <a:r>
              <a:rPr sz="1500" b="1" i="0">
                <a:solidFill>
                  <a:srgbClr val="C7641F"/>
                </a:solidFill>
                <a:latin typeface="Calibri"/>
              </a:rPr>
              <a:t>The diagnosis.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With a 100-step episode cap, most early failures are timeouts. The replay buffer stored truncated (timed-out) transitions as terminal, so the Bellman target zeroed their bootstrap — teaching the network that late-horizon states are terminal-bad.</a:t>
            </a:r>
          </a:p>
          <a:p>
            <a:pPr>
              <a:lnSpc>
                <a:spcPct val="104000"/>
              </a:lnSpc>
              <a:spcBef>
                <a:spcPts val="800"/>
              </a:spcBef>
              <a:spcAft>
                <a:spcPts val="400"/>
              </a:spcAft>
            </a:pPr>
            <a:r>
              <a:rPr sz="1500" b="1" i="0">
                <a:solidFill>
                  <a:srgbClr val="C7641F"/>
                </a:solidFill>
                <a:latin typeface="Calibri"/>
              </a:rPr>
              <a:t>The fix.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Separate terminated (real success/failure) from truncated (time limit); bootstrap from V(s′) on truncation. Plus Double-DQN, a dueling head, and potential-based reward shaping as stabilizers.</a:t>
            </a:r>
          </a:p>
        </p:txBody>
      </p:sp>
      <p:pic>
        <p:nvPicPr>
          <p:cNvPr id="5" name="Picture 4" descr="slide_collapse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1680"/>
            <a:ext cx="5257800" cy="288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5008336"/>
            <a:ext cx="5257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1">
                <a:solidFill>
                  <a:srgbClr val="808080"/>
                </a:solidFill>
                <a:latin typeface="Calibri"/>
              </a:rPr>
              <a:t>Greedy success rate vs training. Orange: before the fix (collapses to 0). Blue: after.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0515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 i="0">
                <a:solidFill>
                  <a:srgbClr val="0F6E8C"/>
                </a:solidFill>
                <a:latin typeface="Calibri"/>
              </a:rPr>
              <a:t>PROVING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2000"/>
              </a:lnSpc>
            </a:pPr>
            <a:r>
              <a:rPr sz="3300" b="1" i="0">
                <a:solidFill>
                  <a:srgbClr val="222222"/>
                </a:solidFill>
                <a:latin typeface="Cambria"/>
              </a:rPr>
              <a:t>A pre-registered, paired protocol — so the win can't be an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94360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C7641F"/>
                </a:solidFill>
                <a:latin typeface="Calibri"/>
              </a:rPr>
              <a:t>Pre-registered metric.  </a:t>
            </a:r>
            <a:r>
              <a:rPr sz="1550" b="0" i="0">
                <a:solidFill>
                  <a:srgbClr val="222222"/>
                </a:solidFill>
                <a:latin typeface="Calibri"/>
              </a:rPr>
              <a:t>Fixed before seeing results: (1) non-inferior success rate, then (2) fewer steps-to-completion, compared only on instances both policies solved. Success can't be traded for speed.</a:t>
            </a:r>
          </a:p>
          <a:p>
            <a:pPr>
              <a:lnSpc>
                <a:spcPct val="104000"/>
              </a:lnSpc>
              <a:spcBef>
                <a:spcPts val="800"/>
              </a:spcBef>
              <a:spcAft>
                <a:spcPts val="1000"/>
              </a:spcAft>
            </a:pPr>
            <a:r>
              <a:rPr sz="1550" b="1" i="0">
                <a:solidFill>
                  <a:srgbClr val="C7641F"/>
                </a:solidFill>
                <a:latin typeface="Calibri"/>
              </a:rPr>
              <a:t>Common random numbers.  </a:t>
            </a:r>
            <a:r>
              <a:rPr sz="1550" b="0" i="0">
                <a:solidFill>
                  <a:srgbClr val="222222"/>
                </a:solidFill>
                <a:latin typeface="Calibri"/>
              </a:rPr>
              <a:t>Each policy faces the identical sequence of generation/swap outcomes per episode — verified byte-identical with a fixed-action probe — so the steps comparison is truly paired.</a:t>
            </a:r>
          </a:p>
          <a:p>
            <a:pPr>
              <a:lnSpc>
                <a:spcPct val="104000"/>
              </a:lnSpc>
              <a:spcBef>
                <a:spcPts val="800"/>
              </a:spcBef>
              <a:spcAft>
                <a:spcPts val="1000"/>
              </a:spcAft>
            </a:pPr>
            <a:r>
              <a:rPr sz="1550" b="1" i="0">
                <a:solidFill>
                  <a:srgbClr val="C7641F"/>
                </a:solidFill>
                <a:latin typeface="Calibri"/>
              </a:rPr>
              <a:t>Attribution.  </a:t>
            </a:r>
            <a:r>
              <a:rPr sz="1550" b="0" i="0">
                <a:solidFill>
                  <a:srgbClr val="222222"/>
                </a:solidFill>
                <a:latin typeface="Calibri"/>
              </a:rPr>
              <a:t>An ablation isolates each component; no single one is catastrophic, confirming the terminated/truncated correctness fix is foundational, not the architecture.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874519"/>
            <a:ext cx="4937760" cy="1783080"/>
          </a:xfrm>
          <a:prstGeom prst="roundRect">
            <a:avLst/>
          </a:prstGeom>
          <a:solidFill>
            <a:srgbClr val="0F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6600" b="1" i="0">
                <a:solidFill>
                  <a:srgbClr val="FFFFFF"/>
                </a:solidFill>
                <a:latin typeface="Cambria"/>
              </a:rPr>
              <a:t>21</a:t>
            </a:r>
          </a:p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fewer steps per problem, paired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3886200"/>
            <a:ext cx="493776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700" b="1" i="0">
                <a:solidFill>
                  <a:srgbClr val="C7641F"/>
                </a:solidFill>
                <a:latin typeface="Calibri"/>
              </a:rPr>
              <a:t>Matched reliability</a:t>
            </a:r>
          </a:p>
          <a:p>
            <a:pPr>
              <a:lnSpc>
                <a:spcPct val="104000"/>
              </a:lnSpc>
              <a:spcBef>
                <a:spcPts val="200"/>
              </a:spcBef>
            </a:pPr>
            <a:r>
              <a:rPr sz="1550" b="0" i="0">
                <a:solidFill>
                  <a:srgbClr val="222222"/>
                </a:solidFill>
                <a:latin typeface="Calibri"/>
              </a:rPr>
              <a:t>98.7% vs 85.5% success on identical instances.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5074920"/>
            <a:ext cx="493776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700" b="1" i="0">
                <a:solidFill>
                  <a:srgbClr val="C7641F"/>
                </a:solidFill>
                <a:latin typeface="Calibri"/>
              </a:rPr>
              <a:t>Consistent</a:t>
            </a:r>
          </a:p>
          <a:p>
            <a:pPr>
              <a:lnSpc>
                <a:spcPct val="104000"/>
              </a:lnSpc>
              <a:spcBef>
                <a:spcPts val="200"/>
              </a:spcBef>
            </a:pPr>
            <a:r>
              <a:rPr sz="1550" b="0" i="0">
                <a:solidFill>
                  <a:srgbClr val="222222"/>
                </a:solidFill>
                <a:latin typeface="Calibri"/>
              </a:rPr>
              <a:t>All 5 evaluation seeds positive; ~1-step spread.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0515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 i="0">
                <a:solidFill>
                  <a:srgbClr val="0F6E8C"/>
                </a:solidFill>
                <a:latin typeface="Calibri"/>
              </a:rPr>
              <a:t>PRACTICE &amp;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2000"/>
              </a:lnSpc>
            </a:pPr>
            <a:r>
              <a:rPr sz="3300" b="1" i="0">
                <a:solidFill>
                  <a:srgbClr val="222222"/>
                </a:solidFill>
                <a:latin typeface="Cambria"/>
              </a:rPr>
              <a:t>Reproducible by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669280" cy="438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0F6E8C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Pre-registered success criteria before looking at data</a:t>
            </a:r>
          </a:p>
          <a:p>
            <a:pPr>
              <a:lnSpc>
                <a:spcPct val="105000"/>
              </a:lnSpc>
              <a:spcBef>
                <a:spcPts val="1000"/>
              </a:spcBef>
              <a:spcAft>
                <a:spcPts val="800"/>
              </a:spcAft>
            </a:pPr>
            <a:r>
              <a:rPr sz="1700" b="1" i="0">
                <a:solidFill>
                  <a:srgbClr val="0F6E8C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Paired evaluation with common random numbers</a:t>
            </a:r>
          </a:p>
          <a:p>
            <a:pPr>
              <a:lnSpc>
                <a:spcPct val="105000"/>
              </a:lnSpc>
              <a:spcBef>
                <a:spcPts val="1000"/>
              </a:spcBef>
              <a:spcAft>
                <a:spcPts val="800"/>
              </a:spcAft>
            </a:pPr>
            <a:r>
              <a:rPr sz="1700" b="1" i="0">
                <a:solidFill>
                  <a:srgbClr val="0F6E8C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Multi-seed runs; ablation-based attribution of each component</a:t>
            </a:r>
          </a:p>
          <a:p>
            <a:pPr>
              <a:lnSpc>
                <a:spcPct val="105000"/>
              </a:lnSpc>
              <a:spcBef>
                <a:spcPts val="1000"/>
              </a:spcBef>
              <a:spcAft>
                <a:spcPts val="800"/>
              </a:spcAft>
            </a:pPr>
            <a:r>
              <a:rPr sz="1700" b="1" i="0">
                <a:solidFill>
                  <a:srgbClr val="0F6E8C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Deterministic checkpointing and reproducible re-runs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828800"/>
            <a:ext cx="5394960" cy="1737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</a:pPr>
            <a:r>
              <a:rPr sz="1450" b="0" i="0">
                <a:solidFill>
                  <a:srgbClr val="222222"/>
                </a:solidFill>
                <a:latin typeface="Calibri"/>
              </a:rPr>
              <a:t>The chain validates the method where an analytical optimum exists. The open problem is multipartite distribution under finite memory coherence — links decay while partial states assemble and fixed heuristics provably fail. That is the next engineering target.</a:t>
            </a:r>
          </a:p>
        </p:txBody>
      </p:sp>
      <p:pic>
        <p:nvPicPr>
          <p:cNvPr id="6" name="Picture 5" descr="slide4_multipartite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191" y="3154680"/>
            <a:ext cx="2603617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566928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 i="1">
                <a:solidFill>
                  <a:srgbClr val="C7641F"/>
                </a:solidFill>
                <a:latin typeface="Calibri"/>
              </a:rPr>
              <a:t>“Same engine, larger problem.”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